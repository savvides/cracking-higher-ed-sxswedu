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291840" y="548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29184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0" y="5486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5852160" y="1508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orders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7680960" cy="0"/>
          </a:xfrm>
          <a:prstGeom prst="line">
            <a:avLst/>
          </a:prstGeom>
          <a:noFill/>
          <a:ln w="19050">
            <a:solidFill>
              <a:srgbClr val="FFC6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77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common outcome for early-stage EdTech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into higher education.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Cracking higher ed: Why startups miss the mark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Philippos Savvides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Head, ScaleU  |  ASU's EdTech Accelerator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384048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6634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product failure. Procurement failure.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C62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higher ed paradox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200400" cy="1097280"/>
          </a:xfrm>
          <a:prstGeom prst="rect">
            <a:avLst/>
          </a:prstGeom>
          <a:solidFill>
            <a:srgbClr val="E8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 require proof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enterprise deployment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purchasing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160020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1371600"/>
            <a:ext cx="3200400" cy="1097280"/>
          </a:xfrm>
          <a:prstGeom prst="rect">
            <a:avLst/>
          </a:prstGeom>
          <a:solidFill>
            <a:srgbClr val="E8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46320" y="1371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Startups cannot demonstrate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capability without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access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926080"/>
            <a:ext cx="2377440" cy="137160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12-18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3152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avg.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cycle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2926080"/>
            <a:ext cx="2377440" cy="137160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$2.4B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338328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EdTech VC in 2024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(lowest since 2014)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2926080"/>
            <a:ext cx="2377440" cy="137160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3063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600" dirty="0"/>
          </a:p>
        </p:txBody>
      </p:sp>
      <p:sp>
        <p:nvSpPr>
          <p:cNvPr id="16" name="Text 13"/>
          <p:cNvSpPr/>
          <p:nvPr/>
        </p:nvSpPr>
        <p:spPr>
          <a:xfrm>
            <a:off x="6035040" y="3703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EdTech startups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within 5 years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31520" y="4526280"/>
            <a:ext cx="7680960" cy="41148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" y="4526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one shot. Generate the right evidence, from the right people, fast enough to matter.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student journey: where products live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EdTech product maps to a stage in the learner lifecycle. Your stage determines your buyer, your evidence, and your competition.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7220" y="1554480"/>
            <a:ext cx="1188720" cy="219456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737360"/>
            <a:ext cx="502920" cy="502920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8288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7220" y="2377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Pre-enroll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7220" y="29260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824228" y="2651760"/>
            <a:ext cx="118872" cy="0"/>
          </a:xfrm>
          <a:prstGeom prst="line">
            <a:avLst/>
          </a:prstGeom>
          <a:noFill/>
          <a:ln w="25400">
            <a:solidFill>
              <a:srgbClr val="FFC62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61388" y="1554480"/>
            <a:ext cx="1188720" cy="219456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1" name="Shape 8"/>
          <p:cNvSpPr/>
          <p:nvPr/>
        </p:nvSpPr>
        <p:spPr>
          <a:xfrm>
            <a:off x="2304288" y="1737360"/>
            <a:ext cx="502920" cy="502920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5728" y="18288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61388" y="2377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961388" y="29260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168396" y="2651760"/>
            <a:ext cx="118872" cy="0"/>
          </a:xfrm>
          <a:prstGeom prst="line">
            <a:avLst/>
          </a:prstGeom>
          <a:noFill/>
          <a:ln w="25400">
            <a:solidFill>
              <a:srgbClr val="FFC62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305556" y="1554480"/>
            <a:ext cx="1188720" cy="219456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7" name="Shape 13"/>
          <p:cNvSpPr/>
          <p:nvPr/>
        </p:nvSpPr>
        <p:spPr>
          <a:xfrm>
            <a:off x="3648456" y="1737360"/>
            <a:ext cx="502920" cy="502920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896" y="182880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305556" y="2377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3305556" y="29260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Orientation,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eval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4512564" y="2651760"/>
            <a:ext cx="118872" cy="0"/>
          </a:xfrm>
          <a:prstGeom prst="line">
            <a:avLst/>
          </a:prstGeom>
          <a:noFill/>
          <a:ln w="25400">
            <a:solidFill>
              <a:srgbClr val="FFC627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649724" y="1554480"/>
            <a:ext cx="1188720" cy="219456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23" name="Shape 18"/>
          <p:cNvSpPr/>
          <p:nvPr/>
        </p:nvSpPr>
        <p:spPr>
          <a:xfrm>
            <a:off x="4992624" y="1737360"/>
            <a:ext cx="502920" cy="502920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82880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649724" y="2377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&amp;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649724" y="29260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Advising,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856732" y="2651760"/>
            <a:ext cx="118872" cy="0"/>
          </a:xfrm>
          <a:prstGeom prst="line">
            <a:avLst/>
          </a:prstGeom>
          <a:noFill/>
          <a:ln w="25400">
            <a:solidFill>
              <a:srgbClr val="FFC627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993892" y="1554480"/>
            <a:ext cx="1188720" cy="219456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29" name="Shape 23"/>
          <p:cNvSpPr/>
          <p:nvPr/>
        </p:nvSpPr>
        <p:spPr>
          <a:xfrm>
            <a:off x="6336792" y="1737360"/>
            <a:ext cx="502920" cy="502920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232" y="182880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993892" y="2377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5993892" y="29260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7200900" y="2651760"/>
            <a:ext cx="118872" cy="0"/>
          </a:xfrm>
          <a:prstGeom prst="line">
            <a:avLst/>
          </a:prstGeom>
          <a:noFill/>
          <a:ln w="25400">
            <a:solidFill>
              <a:srgbClr val="FFC627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7338060" y="1554480"/>
            <a:ext cx="1188720" cy="219456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35" name="Shape 28"/>
          <p:cNvSpPr/>
          <p:nvPr/>
        </p:nvSpPr>
        <p:spPr>
          <a:xfrm>
            <a:off x="7680960" y="1737360"/>
            <a:ext cx="502920" cy="502920"/>
          </a:xfrm>
          <a:prstGeom prst="ellipse">
            <a:avLst/>
          </a:prstGeom>
          <a:solidFill>
            <a:srgbClr val="FFC627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1828800"/>
            <a:ext cx="320040" cy="32004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338060" y="23774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beyond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7338060" y="29260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Career,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alumni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5993892" y="3840480"/>
            <a:ext cx="1188720" cy="36576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40" name="Text 32"/>
          <p:cNvSpPr/>
          <p:nvPr/>
        </p:nvSpPr>
        <p:spPr>
          <a:xfrm>
            <a:off x="5536692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Saturated: 15+ products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617220" y="3840480"/>
            <a:ext cx="5221224" cy="36576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42" name="Text 34"/>
          <p:cNvSpPr/>
          <p:nvPr/>
        </p:nvSpPr>
        <p:spPr>
          <a:xfrm>
            <a:off x="617220" y="3931920"/>
            <a:ext cx="5221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Underserved: high pain, low coverage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731520" y="4526280"/>
            <a:ext cx="7680960" cy="41148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44" name="Text 36"/>
          <p:cNvSpPr/>
          <p:nvPr/>
        </p:nvSpPr>
        <p:spPr>
          <a:xfrm>
            <a:off x="914400" y="45262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of founders build for Course Experience. The biggest opportunities are everywhere else.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Reframe: market = people + job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hire products to make progress. The job is what they need to accomplish. Your product is what they hire to do it.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2468880" cy="41148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person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600200"/>
            <a:ext cx="2468880" cy="41148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7" name="Text 5"/>
          <p:cNvSpPr/>
          <p:nvPr/>
        </p:nvSpPr>
        <p:spPr>
          <a:xfrm>
            <a:off x="333756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600200"/>
            <a:ext cx="2468880" cy="41148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0" y="16002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they hire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2468880" cy="502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2057400"/>
            <a:ext cx="2468880" cy="502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0" y="2057400"/>
            <a:ext cx="2468880" cy="502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Prospective student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(Pre-enroll)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if my credits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before I commit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057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credit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tool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587752"/>
            <a:ext cx="2468880" cy="5029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7" name="Shape 15"/>
          <p:cNvSpPr/>
          <p:nvPr/>
        </p:nvSpPr>
        <p:spPr>
          <a:xfrm>
            <a:off x="3337560" y="2587752"/>
            <a:ext cx="2468880" cy="5029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8" name="Shape 16"/>
          <p:cNvSpPr/>
          <p:nvPr/>
        </p:nvSpPr>
        <p:spPr>
          <a:xfrm>
            <a:off x="5943600" y="2587752"/>
            <a:ext cx="2468880" cy="5029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5877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advisor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(Select &amp; enroll)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25877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300 students to the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courses each term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25877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Degree planning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118104"/>
            <a:ext cx="2468880" cy="502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Shape 21"/>
          <p:cNvSpPr/>
          <p:nvPr/>
        </p:nvSpPr>
        <p:spPr>
          <a:xfrm>
            <a:off x="3337560" y="3118104"/>
            <a:ext cx="2468880" cy="502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0" y="3118104"/>
            <a:ext cx="2468880" cy="50292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1181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member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(Course experience)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29000" y="31181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meaningful feedback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200 students per section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31181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grading with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diagnostics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3648456"/>
            <a:ext cx="2468880" cy="5029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9" name="Shape 27"/>
          <p:cNvSpPr/>
          <p:nvPr/>
        </p:nvSpPr>
        <p:spPr>
          <a:xfrm>
            <a:off x="3337560" y="3648456"/>
            <a:ext cx="2468880" cy="5029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0" y="3648456"/>
            <a:ext cx="2468880" cy="5029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6484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services director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(Graduate &amp; beyond)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29000" y="36484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graduates to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employers at scale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36484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pipeline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343400"/>
            <a:ext cx="7680960" cy="54864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343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cannot name the person, the job, and the journey phase, you do not have a market. You have a hypothesis.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product, three different jobs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retention analytics tool. One product. Three stakeholders hiring it for three different reasons.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377440" cy="274320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2377440" cy="54864"/>
          </a:xfrm>
          <a:prstGeom prst="rect">
            <a:avLst/>
          </a:prstGeom>
          <a:solidFill>
            <a:srgbClr val="FFC6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advisor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triage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me which of my 300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need intervention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week, ranked by urgency."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463040"/>
            <a:ext cx="2377440" cy="274320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463040"/>
            <a:ext cx="2377440" cy="54864"/>
          </a:xfrm>
          <a:prstGeom prst="rect">
            <a:avLst/>
          </a:prstGeom>
          <a:solidFill>
            <a:srgbClr val="FFC62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91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7764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of Student Affairs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2044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DFW rates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20440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"Give me a 15% reduction in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DFW rates this academic year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can justify my budget."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35040" y="1463040"/>
            <a:ext cx="2377440" cy="274320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463040"/>
            <a:ext cx="2377440" cy="54864"/>
          </a:xfrm>
          <a:prstGeom prst="rect">
            <a:avLst/>
          </a:prstGeom>
          <a:solidFill>
            <a:srgbClr val="FFC62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29400" y="1691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Provost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7220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plan metrics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172200" y="26060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need a retention number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board presentation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shows year-over-year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improvement."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23" name="Text 18"/>
          <p:cNvSpPr/>
          <p:nvPr/>
        </p:nvSpPr>
        <p:spPr>
          <a:xfrm>
            <a:off x="914400" y="4434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question: who do you validate with? The advisor's 'yes' does not equal the Provost's budget.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 you validate with?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6868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112" y="841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686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56632" y="841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48640" y="1234440"/>
            <a:ext cx="388620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5"/>
          <p:cNvSpPr/>
          <p:nvPr/>
        </p:nvSpPr>
        <p:spPr>
          <a:xfrm>
            <a:off x="548640" y="1234440"/>
            <a:ext cx="54864" cy="777240"/>
          </a:xfrm>
          <a:prstGeom prst="rect">
            <a:avLst/>
          </a:prstGeom>
          <a:solidFill>
            <a:srgbClr val="747474"/>
          </a:solidFill>
          <a:ln/>
        </p:spPr>
      </p:sp>
      <p:sp>
        <p:nvSpPr>
          <p:cNvPr id="10" name="Text 6"/>
          <p:cNvSpPr/>
          <p:nvPr/>
        </p:nvSpPr>
        <p:spPr>
          <a:xfrm>
            <a:off x="731520" y="1344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"Faculty love it"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731520" y="1673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7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don't control budget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522476"/>
            <a:ext cx="201168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709160" y="1234440"/>
            <a:ext cx="388620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9"/>
          <p:cNvSpPr/>
          <p:nvPr/>
        </p:nvSpPr>
        <p:spPr>
          <a:xfrm>
            <a:off x="4709160" y="1234440"/>
            <a:ext cx="54864" cy="77724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15" name="Text 10"/>
          <p:cNvSpPr/>
          <p:nvPr/>
        </p:nvSpPr>
        <p:spPr>
          <a:xfrm>
            <a:off x="4892040" y="13441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holder named a line item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892040" y="16733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is allocated, not just interest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2084832"/>
            <a:ext cx="388620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3"/>
          <p:cNvSpPr/>
          <p:nvPr/>
        </p:nvSpPr>
        <p:spPr>
          <a:xfrm>
            <a:off x="548640" y="2084832"/>
            <a:ext cx="54864" cy="777240"/>
          </a:xfrm>
          <a:prstGeom prst="rect">
            <a:avLst/>
          </a:prstGeom>
          <a:solidFill>
            <a:srgbClr val="747474"/>
          </a:solidFill>
          <a:ln/>
        </p:spPr>
      </p:sp>
      <p:sp>
        <p:nvSpPr>
          <p:cNvPr id="19" name="Text 14"/>
          <p:cNvSpPr/>
          <p:nvPr/>
        </p:nvSpPr>
        <p:spPr>
          <a:xfrm>
            <a:off x="731520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"10,000 student signups"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3152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7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without outcome data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2372868"/>
            <a:ext cx="201168" cy="20116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709160" y="2084832"/>
            <a:ext cx="388620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Shape 17"/>
          <p:cNvSpPr/>
          <p:nvPr/>
        </p:nvSpPr>
        <p:spPr>
          <a:xfrm>
            <a:off x="4709160" y="2084832"/>
            <a:ext cx="54864" cy="77724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24" name="Text 18"/>
          <p:cNvSpPr/>
          <p:nvPr/>
        </p:nvSpPr>
        <p:spPr>
          <a:xfrm>
            <a:off x="4892040" y="2194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measured buyer outcomes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92040" y="25237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the decision-maker needs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8640" y="2935224"/>
            <a:ext cx="388620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Shape 21"/>
          <p:cNvSpPr/>
          <p:nvPr/>
        </p:nvSpPr>
        <p:spPr>
          <a:xfrm>
            <a:off x="548640" y="2935224"/>
            <a:ext cx="54864" cy="777240"/>
          </a:xfrm>
          <a:prstGeom prst="rect">
            <a:avLst/>
          </a:prstGeom>
          <a:solidFill>
            <a:srgbClr val="747474"/>
          </a:solidFill>
          <a:ln/>
        </p:spPr>
      </p:sp>
      <p:sp>
        <p:nvSpPr>
          <p:cNvPr id="28" name="Text 22"/>
          <p:cNvSpPr/>
          <p:nvPr/>
        </p:nvSpPr>
        <p:spPr>
          <a:xfrm>
            <a:off x="731520" y="3044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dean said transformative"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31520" y="33741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7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Enthusiasm without procurement</a:t>
            </a:r>
            <a:endParaRPr lang="en-US" sz="10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848" y="3223260"/>
            <a:ext cx="201168" cy="201168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4709160" y="2935224"/>
            <a:ext cx="388620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2" name="Shape 25"/>
          <p:cNvSpPr/>
          <p:nvPr/>
        </p:nvSpPr>
        <p:spPr>
          <a:xfrm>
            <a:off x="4709160" y="2935224"/>
            <a:ext cx="54864" cy="77724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33" name="Text 26"/>
          <p:cNvSpPr/>
          <p:nvPr/>
        </p:nvSpPr>
        <p:spPr>
          <a:xfrm>
            <a:off x="4892040" y="30449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started before pilot ended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892040" y="33741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is moving, not just praise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48640" y="3785616"/>
            <a:ext cx="388620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Shape 29"/>
          <p:cNvSpPr/>
          <p:nvPr/>
        </p:nvSpPr>
        <p:spPr>
          <a:xfrm>
            <a:off x="548640" y="3785616"/>
            <a:ext cx="54864" cy="777240"/>
          </a:xfrm>
          <a:prstGeom prst="rect">
            <a:avLst/>
          </a:prstGeom>
          <a:solidFill>
            <a:srgbClr val="747474"/>
          </a:solidFill>
          <a:ln/>
        </p:spPr>
      </p:sp>
      <p:sp>
        <p:nvSpPr>
          <p:cNvPr id="37" name="Text 30"/>
          <p:cNvSpPr/>
          <p:nvPr/>
        </p:nvSpPr>
        <p:spPr>
          <a:xfrm>
            <a:off x="731520" y="38953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 pilot champions"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731520" y="4224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47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own procurement authority</a:t>
            </a:r>
            <a:endParaRPr lang="en-US" sz="10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4073652"/>
            <a:ext cx="201168" cy="201168"/>
          </a:xfrm>
          <a:prstGeom prst="rect">
            <a:avLst/>
          </a:prstGeom>
        </p:spPr>
      </p:pic>
      <p:sp>
        <p:nvSpPr>
          <p:cNvPr id="40" name="Shape 32"/>
          <p:cNvSpPr/>
          <p:nvPr/>
        </p:nvSpPr>
        <p:spPr>
          <a:xfrm>
            <a:off x="4709160" y="3785616"/>
            <a:ext cx="388620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1" name="Shape 33"/>
          <p:cNvSpPr/>
          <p:nvPr/>
        </p:nvSpPr>
        <p:spPr>
          <a:xfrm>
            <a:off x="4709160" y="3785616"/>
            <a:ext cx="54864" cy="77724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42" name="Text 34"/>
          <p:cNvSpPr/>
          <p:nvPr/>
        </p:nvSpPr>
        <p:spPr>
          <a:xfrm>
            <a:off x="4892040" y="38953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survives if champion leaves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4892040" y="4224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need, not personal favor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0" y="4663440"/>
            <a:ext cx="9144000" cy="384048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45" name="Text 37"/>
          <p:cNvSpPr/>
          <p:nvPr/>
        </p:nvSpPr>
        <p:spPr>
          <a:xfrm>
            <a:off x="548640" y="46634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comes from users and champions. Signal comes from buyers and processes.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C62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questions before you build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468880" cy="329184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2468880" cy="54864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280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job?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194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struggling? What is their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struggling moment? Is there 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line item for this pain?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" y="3154680"/>
            <a:ext cx="2194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they haven't tried to solve it,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job isn't urgent enough to pay for.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097280"/>
            <a:ext cx="2468880" cy="329184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097280"/>
            <a:ext cx="2468880" cy="54864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0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proof?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474720" y="2194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measurable outcome will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convince the buyer (not the user)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issue a purchase order?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474720" y="3154680"/>
            <a:ext cx="2194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47472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only outcome is 'users liked it,'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have evidence.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943600" y="1097280"/>
            <a:ext cx="2468880" cy="329184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943600" y="1097280"/>
            <a:ext cx="2468880" cy="54864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21" name="Text 17"/>
          <p:cNvSpPr/>
          <p:nvPr/>
        </p:nvSpPr>
        <p:spPr>
          <a:xfrm>
            <a:off x="60807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28016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08076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moat?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080760" y="21945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can't the university's IT team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replicate this with a general-purpose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and a 2-week sprint?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080760" y="3154680"/>
            <a:ext cx="2194560" cy="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080760" y="32461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AI is your feature, AI is also your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substitution risk.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28" name="Text 23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job, what proof, what moat. If you can't answer all three, you're not ready for a pilot.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problem: AI changes the math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2560320" cy="118872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2560320" cy="54864"/>
          </a:xfrm>
          <a:prstGeom prst="rect">
            <a:avLst/>
          </a:prstGeom>
          <a:solidFill>
            <a:srgbClr val="74747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exposure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generation, summarization,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Q&amp;A, template output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47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Replicable in 12-18 months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560320" cy="118872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914400"/>
            <a:ext cx="2560320" cy="54864"/>
          </a:xfrm>
          <a:prstGeom prst="rect">
            <a:avLst/>
          </a:prstGeom>
          <a:solidFill>
            <a:srgbClr val="484848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exposure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embedded in workflow or dataset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switching costs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Replicable in 2-4 years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52160" y="914400"/>
            <a:ext cx="2560320" cy="118872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14" name="Shape 12"/>
          <p:cNvSpPr/>
          <p:nvPr/>
        </p:nvSpPr>
        <p:spPr>
          <a:xfrm>
            <a:off x="5852160" y="914400"/>
            <a:ext cx="256032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989320" y="1051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exposure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93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moat that AI substitution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dissolve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89320" y="1737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for 3+ years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217627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47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your product?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423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moves you right?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2743200"/>
            <a:ext cx="3749040" cy="82296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2743200"/>
            <a:ext cx="54864" cy="822960"/>
          </a:xfrm>
          <a:prstGeom prst="rect">
            <a:avLst/>
          </a:prstGeom>
          <a:solidFill>
            <a:srgbClr val="8C1D40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80360"/>
            <a:ext cx="320040" cy="32004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325880" y="28529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data network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325880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data that improves with usage and cannot be reconstructed by a new entrant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90288" y="2743200"/>
            <a:ext cx="3749040" cy="82296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90288" y="2743200"/>
            <a:ext cx="54864" cy="822960"/>
          </a:xfrm>
          <a:prstGeom prst="rect">
            <a:avLst/>
          </a:prstGeom>
          <a:solidFill>
            <a:srgbClr val="8C1D40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880360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184648" y="28529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integration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184648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LTI/SIS write-back creating operational switching costs that exceed the product's price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31520" y="3675888"/>
            <a:ext cx="3749040" cy="82296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731520" y="3675888"/>
            <a:ext cx="54864" cy="822960"/>
          </a:xfrm>
          <a:prstGeom prst="rect">
            <a:avLst/>
          </a:prstGeom>
          <a:solidFill>
            <a:srgbClr val="8C1D40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13048"/>
            <a:ext cx="320040" cy="32004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325880" y="37856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Supply-side network effects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1325880" y="40873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providers, mentors, or contributors increase quality for all existing users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4590288" y="3675888"/>
            <a:ext cx="3749040" cy="822960"/>
          </a:xfrm>
          <a:prstGeom prst="rect">
            <a:avLst/>
          </a:prstGeom>
          <a:solidFill>
            <a:srgbClr val="FAFAF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590288" y="3675888"/>
            <a:ext cx="54864" cy="822960"/>
          </a:xfrm>
          <a:prstGeom prst="rect">
            <a:avLst/>
          </a:prstGeom>
          <a:solidFill>
            <a:srgbClr val="8C1D40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813048"/>
            <a:ext cx="320040" cy="32004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5184648" y="37856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access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5184648" y="408736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FERPA, HIPAA, or credentialing compliance that LLM wrappers cannot clear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41" name="Text 35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with the institutional dependency you create, not the technology you use.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C1D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diagnostic: 5 questions before your next pilot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7680960" cy="7040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097280"/>
            <a:ext cx="411480" cy="411480"/>
          </a:xfrm>
          <a:prstGeom prst="ellipse">
            <a:avLst/>
          </a:prstGeom>
          <a:solidFill>
            <a:srgbClr val="8C1D4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033272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struggling, and what is the struggling moment?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08760" y="1344168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can't name a specific person with a specific problem, you have a hypothesis, not a job.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709928"/>
            <a:ext cx="7680960" cy="704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847088"/>
            <a:ext cx="411480" cy="411480"/>
          </a:xfrm>
          <a:prstGeom prst="ellipse">
            <a:avLst/>
          </a:prstGeom>
          <a:solidFill>
            <a:srgbClr val="8C1D4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470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178308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have they already tried (and why did it fail)?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2093976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competition isn't other EdTech. It's spreadsheets, grad students, and ignoring the problem.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459736"/>
            <a:ext cx="7680960" cy="7040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596896"/>
            <a:ext cx="411480" cy="411480"/>
          </a:xfrm>
          <a:prstGeom prst="ellipse">
            <a:avLst/>
          </a:prstGeom>
          <a:solidFill>
            <a:srgbClr val="8C1D40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596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2532888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there a budget line item?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2843784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"Interesting" vs. "funded" is the only filter that matters.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209544"/>
            <a:ext cx="7680960" cy="704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3346704"/>
            <a:ext cx="411480" cy="411480"/>
          </a:xfrm>
          <a:prstGeom prst="ellipse">
            <a:avLst/>
          </a:prstGeom>
          <a:solidFill>
            <a:srgbClr val="8C1D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3467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3282696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if they do nothing?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08760" y="359359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lose accreditation" is a job. "Students might learn better" is a hypothesis.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959352"/>
            <a:ext cx="7680960" cy="70408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Shape 22"/>
          <p:cNvSpPr/>
          <p:nvPr/>
        </p:nvSpPr>
        <p:spPr>
          <a:xfrm>
            <a:off x="914400" y="4096512"/>
            <a:ext cx="411480" cy="411480"/>
          </a:xfrm>
          <a:prstGeom prst="ellipse">
            <a:avLst/>
          </a:prstGeom>
          <a:solidFill>
            <a:srgbClr val="8C1D40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40965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08760" y="4032504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else must say yes?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08760" y="434340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answer is "just me," the pilot succeeds and procurement fails.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8C1D40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questions. If you can't answer all five, go back to discovery.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C62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051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your product to a journey phase (and check if it's saturated)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4904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job for the person, not the institution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29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92938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buyer, not just the user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36829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the pilot to produce evidence the buyer needs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8072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8072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moat that AI can't replicate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29000"/>
            <a:ext cx="7680960" cy="0"/>
          </a:xfrm>
          <a:prstGeom prst="line">
            <a:avLst/>
          </a:prstGeom>
          <a:noFill/>
          <a:ln w="12700">
            <a:solidFill>
              <a:srgbClr val="FFC6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Philippos Savvides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Head, ScaleU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ASU's EdTech Accelerator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657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philippos.savvides@asuep.org</a:t>
            </a:r>
            <a:endParaRPr lang="en-US" sz="11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scaleu.org</a:t>
            </a:r>
            <a:endParaRPr lang="en-US" sz="1100" dirty="0"/>
          </a:p>
          <a:p>
            <a:pPr algn="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C6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linkedin.com/in/savvides  |  x.com/savvides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B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C6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Cracking Higher Ed: Why Startups Miss the Mark</dc:title>
  <dc:subject>PptxGenJS Presentation</dc:subject>
  <dc:creator>Philippos Savvides</dc:creator>
  <cp:lastModifiedBy>Philippos Savvides</cp:lastModifiedBy>
  <cp:revision>1</cp:revision>
  <dcterms:created xsi:type="dcterms:W3CDTF">2026-03-12T15:43:14Z</dcterms:created>
  <dcterms:modified xsi:type="dcterms:W3CDTF">2026-03-12T15:43:14Z</dcterms:modified>
</cp:coreProperties>
</file>